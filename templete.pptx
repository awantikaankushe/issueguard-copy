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AWmGsJxZENJTtjNYPWz9Z4vLm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bf6d6e0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cbf6d6e0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002.08155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6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0464" y="1213786"/>
            <a:ext cx="15647100" cy="764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"/>
          <p:cNvSpPr/>
          <p:nvPr/>
        </p:nvSpPr>
        <p:spPr>
          <a:xfrm rot="-5400000">
            <a:off x="10532590" y="2233300"/>
            <a:ext cx="5602474" cy="5602474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4106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"/>
          <p:cNvSpPr/>
          <p:nvPr/>
        </p:nvSpPr>
        <p:spPr>
          <a:xfrm rot="5400000">
            <a:off x="5551270" y="4640004"/>
            <a:ext cx="1502100" cy="996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0" y="6605314"/>
            <a:ext cx="3687586" cy="3681686"/>
          </a:xfrm>
          <a:custGeom>
            <a:avLst/>
            <a:gdLst/>
            <a:ahLst/>
            <a:cxnLst/>
            <a:rect l="l" t="t" r="r" b="b"/>
            <a:pathLst>
              <a:path w="6350000" h="6339840" extrusionOk="0">
                <a:moveTo>
                  <a:pt x="6350000" y="6339840"/>
                </a:moveTo>
                <a:lnTo>
                  <a:pt x="0" y="6339840"/>
                </a:lnTo>
                <a:lnTo>
                  <a:pt x="0" y="0"/>
                </a:lnTo>
                <a:close/>
              </a:path>
            </a:pathLst>
          </a:custGeom>
          <a:solidFill>
            <a:srgbClr val="04106D"/>
          </a:solid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0762313" y="2463033"/>
            <a:ext cx="5143029" cy="5143008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1573" r="-12157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-1373936" y="5588175"/>
            <a:ext cx="2694400" cy="2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1112170" y="257483"/>
            <a:ext cx="3224554" cy="745678"/>
          </a:xfrm>
          <a:custGeom>
            <a:avLst/>
            <a:gdLst/>
            <a:ahLst/>
            <a:cxnLst/>
            <a:rect l="l" t="t" r="r" b="b"/>
            <a:pathLst>
              <a:path w="3224554" h="745678" extrusionOk="0">
                <a:moveTo>
                  <a:pt x="0" y="0"/>
                </a:moveTo>
                <a:lnTo>
                  <a:pt x="3224554" y="0"/>
                </a:lnTo>
                <a:lnTo>
                  <a:pt x="3224554" y="745678"/>
                </a:lnTo>
                <a:lnTo>
                  <a:pt x="0" y="7456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4643323" y="245556"/>
            <a:ext cx="2326494" cy="769533"/>
          </a:xfrm>
          <a:custGeom>
            <a:avLst/>
            <a:gdLst/>
            <a:ahLst/>
            <a:cxnLst/>
            <a:rect l="l" t="t" r="r" b="b"/>
            <a:pathLst>
              <a:path w="2326494" h="769533" extrusionOk="0">
                <a:moveTo>
                  <a:pt x="0" y="0"/>
                </a:moveTo>
                <a:lnTo>
                  <a:pt x="2326494" y="0"/>
                </a:lnTo>
                <a:lnTo>
                  <a:pt x="2326494" y="769532"/>
                </a:lnTo>
                <a:lnTo>
                  <a:pt x="0" y="769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7276417" y="199258"/>
            <a:ext cx="862128" cy="862128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52507" t="-17416" r="-56069" b="-3881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815726" y="1387353"/>
            <a:ext cx="8824500" cy="12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99" b="1" i="0" u="none" strike="noStrike" cap="none" dirty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CIPHATHON</a:t>
            </a:r>
            <a:r>
              <a:rPr lang="en-US" sz="8299" b="1" dirty="0">
                <a:solidFill>
                  <a:srgbClr val="050A30"/>
                </a:solidFill>
              </a:rPr>
              <a:t> 2</a:t>
            </a:r>
            <a:r>
              <a:rPr lang="en-US" sz="8299" b="1" i="0" u="none" strike="noStrike" cap="none" dirty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8299" b="1" dirty="0">
                <a:solidFill>
                  <a:srgbClr val="050A30"/>
                </a:solidFill>
              </a:rPr>
              <a:t>’</a:t>
            </a:r>
            <a:r>
              <a:rPr lang="en-US" sz="8299" b="1" i="0" u="none" strike="noStrike" cap="none" dirty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"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1904887" y="2980262"/>
            <a:ext cx="10086221" cy="2601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4"/>
              </a:lnSpc>
            </a:pPr>
            <a:r>
              <a:rPr lang="en-US" sz="3699" b="0" i="0" u="none" strike="noStrike" cap="none" dirty="0" smtClean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- Problem </a:t>
            </a:r>
            <a:r>
              <a:rPr lang="en-US" sz="3699" b="0" i="0" u="none" strike="noStrike" cap="none" dirty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Statement:</a:t>
            </a:r>
            <a:r>
              <a:rPr lang="en-US" sz="3699" dirty="0">
                <a:solidFill>
                  <a:srgbClr val="050A30"/>
                </a:solidFill>
              </a:rPr>
              <a:t> </a:t>
            </a:r>
            <a:r>
              <a:rPr lang="en-US" sz="3600" dirty="0"/>
              <a:t>Browser-Level Sensitive Data Leakage Prevention from </a:t>
            </a:r>
            <a:r>
              <a:rPr lang="en-US" sz="3600" dirty="0" smtClean="0"/>
              <a:t>LLMs</a:t>
            </a:r>
          </a:p>
          <a:p>
            <a:pPr lvl="0">
              <a:lnSpc>
                <a:spcPct val="115004"/>
              </a:lnSpc>
            </a:pPr>
            <a:r>
              <a:rPr lang="en-US" sz="3699" b="0" i="0" u="none" strike="noStrike" cap="none" dirty="0" smtClean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- Team </a:t>
            </a:r>
            <a:r>
              <a:rPr lang="en-US" sz="3699" b="0" i="0" u="none" strike="noStrike" cap="none" dirty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3699" b="0" i="0" u="none" strike="noStrike" cap="none" dirty="0" smtClean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: AWANSAY</a:t>
            </a:r>
            <a:endParaRPr dirty="0"/>
          </a:p>
          <a:p>
            <a:pPr marL="0" marR="0" lvl="0" indent="0" algn="l" rtl="0">
              <a:lnSpc>
                <a:spcPct val="11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 dirty="0" smtClean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- Team </a:t>
            </a:r>
            <a:r>
              <a:rPr lang="en-US" sz="3699" dirty="0">
                <a:solidFill>
                  <a:srgbClr val="050A30"/>
                </a:solidFill>
              </a:rPr>
              <a:t>Members</a:t>
            </a:r>
            <a:r>
              <a:rPr lang="en-US" sz="3699" b="0" i="0" u="none" strike="noStrike" cap="none" dirty="0" smtClean="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: 2</a:t>
            </a:r>
            <a:endParaRPr dirty="0"/>
          </a:p>
        </p:txBody>
      </p:sp>
      <p:pic>
        <p:nvPicPr>
          <p:cNvPr id="95" name="Google Shape;95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186" y="26496"/>
            <a:ext cx="1340475" cy="1277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 rot="628038">
            <a:off x="12564793" y="-1386196"/>
            <a:ext cx="2729333" cy="13687572"/>
          </a:xfrm>
          <a:prstGeom prst="rect">
            <a:avLst/>
          </a:prstGeom>
          <a:solidFill>
            <a:srgbClr val="04106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14596" y="3419593"/>
            <a:ext cx="8069401" cy="75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smtClean="0">
                <a:solidFill>
                  <a:srgbClr val="021852"/>
                </a:solidFill>
                <a:latin typeface="Arial"/>
                <a:ea typeface="Arial"/>
                <a:cs typeface="Arial"/>
                <a:sym typeface="Arial"/>
              </a:rPr>
              <a:t>Proposed Solution –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"/>
          <p:cNvSpPr txBox="1"/>
          <p:nvPr/>
        </p:nvSpPr>
        <p:spPr>
          <a:xfrm>
            <a:off x="1014596" y="1506428"/>
            <a:ext cx="12492470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4"/>
              </a:lnSpc>
            </a:pPr>
            <a:r>
              <a:rPr lang="en-US" sz="5400" dirty="0" err="1" smtClean="0"/>
              <a:t>LeakShield:Real-Time</a:t>
            </a:r>
            <a:r>
              <a:rPr lang="en-US" sz="5400" dirty="0" smtClean="0"/>
              <a:t> </a:t>
            </a:r>
            <a:r>
              <a:rPr lang="en-US" sz="5400" dirty="0"/>
              <a:t>Secret </a:t>
            </a:r>
            <a:endParaRPr lang="en-US" sz="5400" dirty="0" smtClean="0"/>
          </a:p>
          <a:p>
            <a:pPr lvl="0">
              <a:lnSpc>
                <a:spcPct val="130004"/>
              </a:lnSpc>
            </a:pPr>
            <a:r>
              <a:rPr lang="en-US" sz="5400" dirty="0" smtClean="0"/>
              <a:t>Protection Tool</a:t>
            </a:r>
            <a:endParaRPr sz="5400" b="1" dirty="0"/>
          </a:p>
        </p:txBody>
      </p:sp>
      <p:sp>
        <p:nvSpPr>
          <p:cNvPr id="105" name="Google Shape;105;p2"/>
          <p:cNvSpPr/>
          <p:nvPr/>
        </p:nvSpPr>
        <p:spPr>
          <a:xfrm>
            <a:off x="16470521" y="0"/>
            <a:ext cx="1817479" cy="1817471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1573" r="-12157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1824743" y="227833"/>
            <a:ext cx="7026374" cy="862128"/>
            <a:chOff x="0" y="0"/>
            <a:chExt cx="9368499" cy="1149503"/>
          </a:xfrm>
        </p:grpSpPr>
        <p:sp>
          <p:nvSpPr>
            <p:cNvPr id="107" name="Google Shape;107;p2"/>
            <p:cNvSpPr/>
            <p:nvPr/>
          </p:nvSpPr>
          <p:spPr>
            <a:xfrm>
              <a:off x="0" y="77633"/>
              <a:ext cx="4299406" cy="994238"/>
            </a:xfrm>
            <a:custGeom>
              <a:avLst/>
              <a:gdLst/>
              <a:ahLst/>
              <a:cxnLst/>
              <a:rect l="l" t="t" r="r" b="b"/>
              <a:pathLst>
                <a:path w="4299406" h="994238" extrusionOk="0">
                  <a:moveTo>
                    <a:pt x="0" y="0"/>
                  </a:moveTo>
                  <a:lnTo>
                    <a:pt x="4299406" y="0"/>
                  </a:lnTo>
                  <a:lnTo>
                    <a:pt x="4299406" y="994238"/>
                  </a:lnTo>
                  <a:lnTo>
                    <a:pt x="0" y="9942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8" name="Google Shape;108;p2"/>
            <p:cNvSpPr/>
            <p:nvPr/>
          </p:nvSpPr>
          <p:spPr>
            <a:xfrm>
              <a:off x="4708205" y="61730"/>
              <a:ext cx="3101992" cy="1026044"/>
            </a:xfrm>
            <a:custGeom>
              <a:avLst/>
              <a:gdLst/>
              <a:ahLst/>
              <a:cxnLst/>
              <a:rect l="l" t="t" r="r" b="b"/>
              <a:pathLst>
                <a:path w="3101992" h="1026044" extrusionOk="0">
                  <a:moveTo>
                    <a:pt x="0" y="0"/>
                  </a:moveTo>
                  <a:lnTo>
                    <a:pt x="3101992" y="0"/>
                  </a:lnTo>
                  <a:lnTo>
                    <a:pt x="3101992" y="1026043"/>
                  </a:lnTo>
                  <a:lnTo>
                    <a:pt x="0" y="10260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9" name="Google Shape;109;p2"/>
            <p:cNvSpPr/>
            <p:nvPr/>
          </p:nvSpPr>
          <p:spPr>
            <a:xfrm>
              <a:off x="8218996" y="0"/>
              <a:ext cx="1149503" cy="114950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52507" t="-17416" r="-56069" b="-38813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0" name="Google Shape;110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625" y="-90838"/>
            <a:ext cx="1499450" cy="14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854350" y="4182391"/>
            <a:ext cx="1143259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 smtClean="0"/>
              <a:t>Detailed </a:t>
            </a:r>
            <a:r>
              <a:rPr lang="en-US" sz="2000" b="1" dirty="0"/>
              <a:t>Explanation of the Proposed Solution </a:t>
            </a:r>
            <a:endParaRPr lang="en-US" sz="2000" b="1" dirty="0" smtClean="0"/>
          </a:p>
          <a:p>
            <a:pPr marL="285750" indent="-285750">
              <a:buFontTx/>
              <a:buChar char="-"/>
            </a:pPr>
            <a:r>
              <a:rPr lang="en-US" sz="2000" dirty="0" smtClean="0"/>
              <a:t>Browser </a:t>
            </a:r>
            <a:r>
              <a:rPr lang="en-US" sz="2000" dirty="0"/>
              <a:t>Monitoring: </a:t>
            </a:r>
            <a:r>
              <a:rPr lang="en-US" sz="2000" dirty="0" smtClean="0"/>
              <a:t>A </a:t>
            </a:r>
            <a:r>
              <a:rPr lang="en-US" sz="2000" dirty="0"/>
              <a:t>Chrome extension monitors GitHub issue text in real time and sends it to a backend server for analysis</a:t>
            </a:r>
            <a:r>
              <a:rPr lang="en-US" sz="200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sz="2000" dirty="0" smtClean="0"/>
              <a:t>Secret </a:t>
            </a:r>
            <a:r>
              <a:rPr lang="en-US" sz="2000" dirty="0"/>
              <a:t>Detection: The backend uses regex and a </a:t>
            </a:r>
            <a:r>
              <a:rPr lang="en-US" sz="2000" dirty="0" err="1"/>
              <a:t>CodeBERT</a:t>
            </a:r>
            <a:r>
              <a:rPr lang="en-US" sz="2000" dirty="0"/>
              <a:t> model to detect and highlight sensitive information before submission.                          </a:t>
            </a:r>
            <a:endParaRPr lang="en-US" sz="2000" dirty="0" smtClean="0"/>
          </a:p>
          <a:p>
            <a:r>
              <a:rPr lang="en-US" sz="2000" b="1" dirty="0"/>
              <a:t>2. How the Solution Addresses the Problem </a:t>
            </a:r>
            <a:endParaRPr lang="en-US" sz="2000" b="1" dirty="0" smtClean="0"/>
          </a:p>
          <a:p>
            <a:pPr marL="285750" indent="-285750">
              <a:buFontTx/>
              <a:buChar char="-"/>
            </a:pPr>
            <a:r>
              <a:rPr lang="en-US" sz="2000" dirty="0" smtClean="0"/>
              <a:t>Prevents </a:t>
            </a:r>
            <a:r>
              <a:rPr lang="en-US" sz="2000" dirty="0"/>
              <a:t>Credential Leaks: Detects API keys, tokens, and passwords before they are publicly posted on GitHub. </a:t>
            </a:r>
            <a:endParaRPr lang="en-US" sz="2000" dirty="0" smtClean="0"/>
          </a:p>
          <a:p>
            <a:pPr marL="285750" indent="-285750">
              <a:buFontTx/>
              <a:buChar char="-"/>
            </a:pPr>
            <a:r>
              <a:rPr lang="en-US" sz="2000" dirty="0" smtClean="0"/>
              <a:t>Real-Time </a:t>
            </a:r>
            <a:r>
              <a:rPr lang="en-US" sz="2000" dirty="0"/>
              <a:t>Workflow Protection: Works directly inside GitHub while typing, providing instant security warnings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3. Innovation and Uniqueness of the Solution </a:t>
            </a:r>
            <a:endParaRPr lang="en-US" sz="2000" b="1" dirty="0" smtClean="0"/>
          </a:p>
          <a:p>
            <a:pPr marL="285750" indent="-285750">
              <a:buFontTx/>
              <a:buChar char="-"/>
            </a:pPr>
            <a:r>
              <a:rPr lang="en-US" sz="2000" dirty="0" smtClean="0"/>
              <a:t>Hybrid </a:t>
            </a:r>
            <a:r>
              <a:rPr lang="en-US" sz="2000" dirty="0"/>
              <a:t>Detection Method: Combines regex pattern matching with machine learning for faster and more accurate secret detection. </a:t>
            </a:r>
            <a:endParaRPr lang="en-US" sz="2000" dirty="0" smtClean="0"/>
          </a:p>
          <a:p>
            <a:pPr marL="285750" indent="-285750">
              <a:buFontTx/>
              <a:buChar char="-"/>
            </a:pPr>
            <a:r>
              <a:rPr lang="en-US" sz="2000" dirty="0" smtClean="0"/>
              <a:t>Browser-Level </a:t>
            </a:r>
            <a:r>
              <a:rPr lang="en-US" sz="2000" dirty="0"/>
              <a:t>Security: Prevents leaks before publishing by integrating directly into the developer’s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10770985" y="0"/>
            <a:ext cx="7539025" cy="10287000"/>
          </a:xfrm>
          <a:prstGeom prst="rect">
            <a:avLst/>
          </a:prstGeom>
          <a:solidFill>
            <a:srgbClr val="04106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914715" y="1900395"/>
            <a:ext cx="91659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21852"/>
                </a:solidFill>
              </a:rPr>
              <a:t>Technical</a:t>
            </a:r>
            <a:r>
              <a:rPr lang="en-US" sz="7200" b="1" dirty="0">
                <a:solidFill>
                  <a:srgbClr val="021852"/>
                </a:solidFill>
              </a:rPr>
              <a:t> </a:t>
            </a:r>
            <a:r>
              <a:rPr lang="en-US" sz="5400" b="1" dirty="0">
                <a:solidFill>
                  <a:srgbClr val="021852"/>
                </a:solidFill>
              </a:rPr>
              <a:t>Approach</a:t>
            </a:r>
            <a:endParaRPr sz="5400" b="1"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518533" y="3729584"/>
            <a:ext cx="8759536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06400">
              <a:buSzPts val="2800"/>
              <a:buChar char="●"/>
            </a:pPr>
            <a:r>
              <a:rPr lang="en-US" sz="2800" dirty="0" smtClean="0"/>
              <a:t> </a:t>
            </a:r>
            <a:r>
              <a:rPr lang="en-US" sz="2800" b="1" dirty="0"/>
              <a:t>Technologies Used Languages: </a:t>
            </a:r>
            <a:r>
              <a:rPr lang="en-US" sz="2800" dirty="0"/>
              <a:t>JavaScript, Python, HTML/CSS Frameworks/Libraries: </a:t>
            </a:r>
            <a:r>
              <a:rPr lang="en-US" sz="2800" dirty="0" err="1"/>
              <a:t>FastAPI</a:t>
            </a:r>
            <a:r>
              <a:rPr lang="en-US" sz="2800" dirty="0"/>
              <a:t>, </a:t>
            </a:r>
            <a:r>
              <a:rPr lang="en-US" sz="2800" dirty="0" err="1"/>
              <a:t>CodeBERT</a:t>
            </a:r>
            <a:r>
              <a:rPr lang="en-US" sz="2800" dirty="0"/>
              <a:t>, Regex Tools/Platforms: Google Chrome, Docker, GitHub Hardware: Laptop/Desktop (optional GPU) </a:t>
            </a:r>
            <a:endParaRPr lang="en-US" sz="2800" dirty="0" smtClean="0"/>
          </a:p>
          <a:p>
            <a:pPr marL="457200" lvl="0" indent="-406400">
              <a:buSzPts val="2800"/>
              <a:buChar char="●"/>
            </a:pPr>
            <a:r>
              <a:rPr lang="en-US" sz="2800" b="1" dirty="0" smtClean="0"/>
              <a:t>Methodology: </a:t>
            </a:r>
            <a:r>
              <a:rPr lang="en-US" sz="2800" dirty="0"/>
              <a:t>Chrome extension monitors GitHub issue text. Text is sent to backend using </a:t>
            </a:r>
            <a:r>
              <a:rPr lang="en-US" sz="2800" dirty="0" err="1"/>
              <a:t>FastAPI</a:t>
            </a:r>
            <a:r>
              <a:rPr lang="en-US" sz="2800" dirty="0"/>
              <a:t> API. Regex extracts possible secrets. </a:t>
            </a:r>
            <a:r>
              <a:rPr lang="en-US" sz="2800" dirty="0" err="1"/>
              <a:t>CodeBERT</a:t>
            </a:r>
            <a:r>
              <a:rPr lang="en-US" sz="2800" dirty="0"/>
              <a:t> classifies them as Secret or Non-Sensitive. Results are returned and secrets are highlighted with warnings.</a:t>
            </a:r>
            <a:endParaRPr sz="2800" dirty="0"/>
          </a:p>
        </p:txBody>
      </p:sp>
      <p:sp>
        <p:nvSpPr>
          <p:cNvPr id="118" name="Google Shape;118;p3"/>
          <p:cNvSpPr/>
          <p:nvPr/>
        </p:nvSpPr>
        <p:spPr>
          <a:xfrm>
            <a:off x="16470521" y="0"/>
            <a:ext cx="1817479" cy="1817471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1573" r="-12157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3"/>
          <p:cNvGrpSpPr/>
          <p:nvPr/>
        </p:nvGrpSpPr>
        <p:grpSpPr>
          <a:xfrm>
            <a:off x="1824743" y="227833"/>
            <a:ext cx="7026374" cy="862128"/>
            <a:chOff x="0" y="0"/>
            <a:chExt cx="9368499" cy="1149503"/>
          </a:xfrm>
        </p:grpSpPr>
        <p:sp>
          <p:nvSpPr>
            <p:cNvPr id="120" name="Google Shape;120;p3"/>
            <p:cNvSpPr/>
            <p:nvPr/>
          </p:nvSpPr>
          <p:spPr>
            <a:xfrm>
              <a:off x="0" y="77633"/>
              <a:ext cx="4299406" cy="994238"/>
            </a:xfrm>
            <a:custGeom>
              <a:avLst/>
              <a:gdLst/>
              <a:ahLst/>
              <a:cxnLst/>
              <a:rect l="l" t="t" r="r" b="b"/>
              <a:pathLst>
                <a:path w="4299406" h="994238" extrusionOk="0">
                  <a:moveTo>
                    <a:pt x="0" y="0"/>
                  </a:moveTo>
                  <a:lnTo>
                    <a:pt x="4299406" y="0"/>
                  </a:lnTo>
                  <a:lnTo>
                    <a:pt x="4299406" y="994238"/>
                  </a:lnTo>
                  <a:lnTo>
                    <a:pt x="0" y="9942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1" name="Google Shape;121;p3"/>
            <p:cNvSpPr/>
            <p:nvPr/>
          </p:nvSpPr>
          <p:spPr>
            <a:xfrm>
              <a:off x="4708205" y="61730"/>
              <a:ext cx="3101992" cy="1026044"/>
            </a:xfrm>
            <a:custGeom>
              <a:avLst/>
              <a:gdLst/>
              <a:ahLst/>
              <a:cxnLst/>
              <a:rect l="l" t="t" r="r" b="b"/>
              <a:pathLst>
                <a:path w="3101992" h="1026044" extrusionOk="0">
                  <a:moveTo>
                    <a:pt x="0" y="0"/>
                  </a:moveTo>
                  <a:lnTo>
                    <a:pt x="3101992" y="0"/>
                  </a:lnTo>
                  <a:lnTo>
                    <a:pt x="3101992" y="1026043"/>
                  </a:lnTo>
                  <a:lnTo>
                    <a:pt x="0" y="10260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2" name="Google Shape;122;p3"/>
            <p:cNvSpPr/>
            <p:nvPr/>
          </p:nvSpPr>
          <p:spPr>
            <a:xfrm>
              <a:off x="8218996" y="0"/>
              <a:ext cx="1149503" cy="114950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52507" t="-17416" r="-56069" b="-38813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3" name="Google Shape;12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625" y="-90838"/>
            <a:ext cx="1499450" cy="14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506" y="3383651"/>
            <a:ext cx="8005754" cy="53371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4"/>
          <p:cNvGrpSpPr/>
          <p:nvPr/>
        </p:nvGrpSpPr>
        <p:grpSpPr>
          <a:xfrm rot="5400000">
            <a:off x="-637746" y="4448574"/>
            <a:ext cx="4722745" cy="1389852"/>
            <a:chOff x="0" y="-885"/>
            <a:chExt cx="6296994" cy="1853137"/>
          </a:xfrm>
        </p:grpSpPr>
        <p:sp>
          <p:nvSpPr>
            <p:cNvPr id="129" name="Google Shape;129;p4"/>
            <p:cNvSpPr/>
            <p:nvPr/>
          </p:nvSpPr>
          <p:spPr>
            <a:xfrm rot="10800000">
              <a:off x="0" y="-885"/>
              <a:ext cx="1848345" cy="1849230"/>
            </a:xfrm>
            <a:custGeom>
              <a:avLst/>
              <a:gdLst/>
              <a:ahLst/>
              <a:cxnLst/>
              <a:rect l="l" t="t" r="r" b="b"/>
              <a:pathLst>
                <a:path w="2653030" h="2654300" extrusionOk="0">
                  <a:moveTo>
                    <a:pt x="0" y="1535430"/>
                  </a:moveTo>
                  <a:lnTo>
                    <a:pt x="0" y="1463040"/>
                  </a:lnTo>
                  <a:lnTo>
                    <a:pt x="1463040" y="0"/>
                  </a:lnTo>
                  <a:lnTo>
                    <a:pt x="1535430" y="0"/>
                  </a:lnTo>
                  <a:lnTo>
                    <a:pt x="0" y="1535430"/>
                  </a:lnTo>
                  <a:close/>
                  <a:moveTo>
                    <a:pt x="1681480" y="0"/>
                  </a:moveTo>
                  <a:lnTo>
                    <a:pt x="1609090" y="0"/>
                  </a:lnTo>
                  <a:lnTo>
                    <a:pt x="0" y="1607820"/>
                  </a:lnTo>
                  <a:lnTo>
                    <a:pt x="0" y="1680210"/>
                  </a:lnTo>
                  <a:lnTo>
                    <a:pt x="1681480" y="0"/>
                  </a:lnTo>
                  <a:close/>
                  <a:moveTo>
                    <a:pt x="1390650" y="0"/>
                  </a:moveTo>
                  <a:lnTo>
                    <a:pt x="1318260" y="0"/>
                  </a:lnTo>
                  <a:lnTo>
                    <a:pt x="0" y="1318260"/>
                  </a:lnTo>
                  <a:lnTo>
                    <a:pt x="0" y="1390650"/>
                  </a:lnTo>
                  <a:lnTo>
                    <a:pt x="1390650" y="0"/>
                  </a:lnTo>
                  <a:close/>
                  <a:moveTo>
                    <a:pt x="1245870" y="0"/>
                  </a:moveTo>
                  <a:lnTo>
                    <a:pt x="1173480" y="0"/>
                  </a:lnTo>
                  <a:lnTo>
                    <a:pt x="0" y="1173480"/>
                  </a:lnTo>
                  <a:lnTo>
                    <a:pt x="0" y="1245870"/>
                  </a:lnTo>
                  <a:lnTo>
                    <a:pt x="1245870" y="0"/>
                  </a:lnTo>
                  <a:close/>
                  <a:moveTo>
                    <a:pt x="1826260" y="0"/>
                  </a:moveTo>
                  <a:lnTo>
                    <a:pt x="1753870" y="0"/>
                  </a:lnTo>
                  <a:lnTo>
                    <a:pt x="0" y="1753870"/>
                  </a:lnTo>
                  <a:lnTo>
                    <a:pt x="0" y="1826260"/>
                  </a:lnTo>
                  <a:lnTo>
                    <a:pt x="1826260" y="0"/>
                  </a:lnTo>
                  <a:close/>
                  <a:moveTo>
                    <a:pt x="2260600" y="0"/>
                  </a:moveTo>
                  <a:lnTo>
                    <a:pt x="2188210" y="0"/>
                  </a:lnTo>
                  <a:lnTo>
                    <a:pt x="0" y="2188210"/>
                  </a:lnTo>
                  <a:lnTo>
                    <a:pt x="0" y="2260600"/>
                  </a:lnTo>
                  <a:lnTo>
                    <a:pt x="2260600" y="0"/>
                  </a:lnTo>
                  <a:close/>
                  <a:moveTo>
                    <a:pt x="2551430" y="0"/>
                  </a:moveTo>
                  <a:lnTo>
                    <a:pt x="2479040" y="0"/>
                  </a:lnTo>
                  <a:lnTo>
                    <a:pt x="0" y="2479040"/>
                  </a:lnTo>
                  <a:lnTo>
                    <a:pt x="0" y="2551430"/>
                  </a:lnTo>
                  <a:lnTo>
                    <a:pt x="2551430" y="0"/>
                  </a:lnTo>
                  <a:close/>
                  <a:moveTo>
                    <a:pt x="2405380" y="0"/>
                  </a:moveTo>
                  <a:lnTo>
                    <a:pt x="2332990" y="0"/>
                  </a:lnTo>
                  <a:lnTo>
                    <a:pt x="0" y="2332990"/>
                  </a:lnTo>
                  <a:lnTo>
                    <a:pt x="0" y="2405380"/>
                  </a:lnTo>
                  <a:lnTo>
                    <a:pt x="2405380" y="0"/>
                  </a:lnTo>
                  <a:close/>
                  <a:moveTo>
                    <a:pt x="2115820" y="0"/>
                  </a:moveTo>
                  <a:lnTo>
                    <a:pt x="2043430" y="0"/>
                  </a:lnTo>
                  <a:lnTo>
                    <a:pt x="0" y="2043430"/>
                  </a:lnTo>
                  <a:lnTo>
                    <a:pt x="0" y="2115820"/>
                  </a:lnTo>
                  <a:lnTo>
                    <a:pt x="2115820" y="0"/>
                  </a:lnTo>
                  <a:close/>
                  <a:moveTo>
                    <a:pt x="375920" y="0"/>
                  </a:moveTo>
                  <a:lnTo>
                    <a:pt x="303530" y="0"/>
                  </a:lnTo>
                  <a:lnTo>
                    <a:pt x="0" y="303530"/>
                  </a:lnTo>
                  <a:lnTo>
                    <a:pt x="0" y="375920"/>
                  </a:lnTo>
                  <a:lnTo>
                    <a:pt x="375920" y="0"/>
                  </a:lnTo>
                  <a:close/>
                  <a:moveTo>
                    <a:pt x="1101090" y="0"/>
                  </a:moveTo>
                  <a:lnTo>
                    <a:pt x="1028700" y="0"/>
                  </a:lnTo>
                  <a:lnTo>
                    <a:pt x="0" y="1028700"/>
                  </a:lnTo>
                  <a:lnTo>
                    <a:pt x="0" y="1101090"/>
                  </a:lnTo>
                  <a:lnTo>
                    <a:pt x="1101090" y="0"/>
                  </a:lnTo>
                  <a:close/>
                  <a:moveTo>
                    <a:pt x="2653030" y="0"/>
                  </a:moveTo>
                  <a:lnTo>
                    <a:pt x="2623820" y="0"/>
                  </a:lnTo>
                  <a:lnTo>
                    <a:pt x="0" y="2623820"/>
                  </a:lnTo>
                  <a:lnTo>
                    <a:pt x="0" y="2653030"/>
                  </a:lnTo>
                  <a:lnTo>
                    <a:pt x="43180" y="2653030"/>
                  </a:lnTo>
                  <a:lnTo>
                    <a:pt x="2653030" y="43180"/>
                  </a:lnTo>
                  <a:lnTo>
                    <a:pt x="2653030" y="0"/>
                  </a:lnTo>
                  <a:close/>
                  <a:moveTo>
                    <a:pt x="520700" y="0"/>
                  </a:moveTo>
                  <a:lnTo>
                    <a:pt x="448310" y="0"/>
                  </a:lnTo>
                  <a:lnTo>
                    <a:pt x="0" y="448310"/>
                  </a:lnTo>
                  <a:lnTo>
                    <a:pt x="0" y="520700"/>
                  </a:lnTo>
                  <a:lnTo>
                    <a:pt x="520700" y="0"/>
                  </a:lnTo>
                  <a:close/>
                  <a:moveTo>
                    <a:pt x="85090" y="0"/>
                  </a:moveTo>
                  <a:lnTo>
                    <a:pt x="12700" y="0"/>
                  </a:lnTo>
                  <a:lnTo>
                    <a:pt x="0" y="12700"/>
                  </a:lnTo>
                  <a:lnTo>
                    <a:pt x="0" y="85090"/>
                  </a:lnTo>
                  <a:lnTo>
                    <a:pt x="85090" y="0"/>
                  </a:lnTo>
                  <a:close/>
                  <a:moveTo>
                    <a:pt x="231140" y="0"/>
                  </a:moveTo>
                  <a:lnTo>
                    <a:pt x="158750" y="0"/>
                  </a:lnTo>
                  <a:lnTo>
                    <a:pt x="0" y="157480"/>
                  </a:lnTo>
                  <a:lnTo>
                    <a:pt x="0" y="229870"/>
                  </a:lnTo>
                  <a:lnTo>
                    <a:pt x="231140" y="0"/>
                  </a:lnTo>
                  <a:close/>
                  <a:moveTo>
                    <a:pt x="0" y="956310"/>
                  </a:moveTo>
                  <a:lnTo>
                    <a:pt x="956310" y="0"/>
                  </a:lnTo>
                  <a:lnTo>
                    <a:pt x="883920" y="0"/>
                  </a:lnTo>
                  <a:lnTo>
                    <a:pt x="0" y="882650"/>
                  </a:lnTo>
                  <a:lnTo>
                    <a:pt x="0" y="956310"/>
                  </a:lnTo>
                  <a:close/>
                  <a:moveTo>
                    <a:pt x="665480" y="0"/>
                  </a:moveTo>
                  <a:lnTo>
                    <a:pt x="593090" y="0"/>
                  </a:lnTo>
                  <a:lnTo>
                    <a:pt x="0" y="593090"/>
                  </a:lnTo>
                  <a:lnTo>
                    <a:pt x="0" y="665480"/>
                  </a:lnTo>
                  <a:lnTo>
                    <a:pt x="665480" y="0"/>
                  </a:lnTo>
                  <a:close/>
                  <a:moveTo>
                    <a:pt x="810260" y="0"/>
                  </a:moveTo>
                  <a:lnTo>
                    <a:pt x="737870" y="0"/>
                  </a:lnTo>
                  <a:lnTo>
                    <a:pt x="0" y="737870"/>
                  </a:lnTo>
                  <a:lnTo>
                    <a:pt x="0" y="810260"/>
                  </a:lnTo>
                  <a:lnTo>
                    <a:pt x="810260" y="0"/>
                  </a:lnTo>
                  <a:close/>
                  <a:moveTo>
                    <a:pt x="1971040" y="0"/>
                  </a:moveTo>
                  <a:lnTo>
                    <a:pt x="1898650" y="0"/>
                  </a:lnTo>
                  <a:lnTo>
                    <a:pt x="0" y="1898650"/>
                  </a:lnTo>
                  <a:lnTo>
                    <a:pt x="0" y="1971040"/>
                  </a:lnTo>
                  <a:lnTo>
                    <a:pt x="1971040" y="0"/>
                  </a:lnTo>
                  <a:close/>
                  <a:moveTo>
                    <a:pt x="2653030" y="1783080"/>
                  </a:moveTo>
                  <a:lnTo>
                    <a:pt x="2653030" y="1710690"/>
                  </a:lnTo>
                  <a:lnTo>
                    <a:pt x="1710690" y="2653030"/>
                  </a:lnTo>
                  <a:lnTo>
                    <a:pt x="1783080" y="2653030"/>
                  </a:lnTo>
                  <a:lnTo>
                    <a:pt x="2653030" y="1783080"/>
                  </a:lnTo>
                  <a:close/>
                  <a:moveTo>
                    <a:pt x="2653030" y="1927860"/>
                  </a:moveTo>
                  <a:lnTo>
                    <a:pt x="2653030" y="1855470"/>
                  </a:lnTo>
                  <a:lnTo>
                    <a:pt x="1855470" y="2653030"/>
                  </a:lnTo>
                  <a:lnTo>
                    <a:pt x="1927860" y="2653030"/>
                  </a:lnTo>
                  <a:lnTo>
                    <a:pt x="2653030" y="1927860"/>
                  </a:lnTo>
                  <a:close/>
                  <a:moveTo>
                    <a:pt x="2653030" y="2072640"/>
                  </a:moveTo>
                  <a:lnTo>
                    <a:pt x="2653030" y="2000250"/>
                  </a:lnTo>
                  <a:lnTo>
                    <a:pt x="2000250" y="2653030"/>
                  </a:lnTo>
                  <a:lnTo>
                    <a:pt x="2072640" y="2653030"/>
                  </a:lnTo>
                  <a:lnTo>
                    <a:pt x="2653030" y="2072640"/>
                  </a:lnTo>
                  <a:close/>
                  <a:moveTo>
                    <a:pt x="2653030" y="1638300"/>
                  </a:moveTo>
                  <a:lnTo>
                    <a:pt x="2653030" y="1565910"/>
                  </a:lnTo>
                  <a:lnTo>
                    <a:pt x="1564640" y="2654300"/>
                  </a:lnTo>
                  <a:lnTo>
                    <a:pt x="1637030" y="2654300"/>
                  </a:lnTo>
                  <a:lnTo>
                    <a:pt x="2653030" y="1638300"/>
                  </a:lnTo>
                  <a:close/>
                  <a:moveTo>
                    <a:pt x="2217420" y="2653030"/>
                  </a:moveTo>
                  <a:lnTo>
                    <a:pt x="2653030" y="2217420"/>
                  </a:lnTo>
                  <a:lnTo>
                    <a:pt x="2653030" y="2145030"/>
                  </a:lnTo>
                  <a:lnTo>
                    <a:pt x="2145030" y="2653030"/>
                  </a:lnTo>
                  <a:lnTo>
                    <a:pt x="2217420" y="2653030"/>
                  </a:lnTo>
                  <a:close/>
                  <a:moveTo>
                    <a:pt x="2653030" y="2580640"/>
                  </a:moveTo>
                  <a:lnTo>
                    <a:pt x="2580640" y="2653030"/>
                  </a:lnTo>
                  <a:lnTo>
                    <a:pt x="2653030" y="2653030"/>
                  </a:lnTo>
                  <a:lnTo>
                    <a:pt x="2653030" y="2580640"/>
                  </a:lnTo>
                  <a:close/>
                  <a:moveTo>
                    <a:pt x="2653030" y="2508250"/>
                  </a:moveTo>
                  <a:lnTo>
                    <a:pt x="2653030" y="2435860"/>
                  </a:lnTo>
                  <a:lnTo>
                    <a:pt x="2435860" y="2653030"/>
                  </a:lnTo>
                  <a:lnTo>
                    <a:pt x="2508250" y="2653030"/>
                  </a:lnTo>
                  <a:lnTo>
                    <a:pt x="2653030" y="2508250"/>
                  </a:lnTo>
                  <a:close/>
                  <a:moveTo>
                    <a:pt x="2653030" y="2363470"/>
                  </a:moveTo>
                  <a:lnTo>
                    <a:pt x="2653030" y="2291080"/>
                  </a:lnTo>
                  <a:lnTo>
                    <a:pt x="2291080" y="2653030"/>
                  </a:lnTo>
                  <a:lnTo>
                    <a:pt x="2363470" y="2653030"/>
                  </a:lnTo>
                  <a:lnTo>
                    <a:pt x="2653030" y="2363470"/>
                  </a:lnTo>
                  <a:close/>
                  <a:moveTo>
                    <a:pt x="2653030" y="1492250"/>
                  </a:moveTo>
                  <a:lnTo>
                    <a:pt x="2653030" y="1419860"/>
                  </a:lnTo>
                  <a:lnTo>
                    <a:pt x="1419860" y="2653030"/>
                  </a:lnTo>
                  <a:lnTo>
                    <a:pt x="1492250" y="2653030"/>
                  </a:lnTo>
                  <a:lnTo>
                    <a:pt x="2653030" y="1492250"/>
                  </a:lnTo>
                  <a:close/>
                  <a:moveTo>
                    <a:pt x="2653030" y="187960"/>
                  </a:moveTo>
                  <a:lnTo>
                    <a:pt x="2653030" y="115570"/>
                  </a:lnTo>
                  <a:lnTo>
                    <a:pt x="115570" y="2653030"/>
                  </a:lnTo>
                  <a:lnTo>
                    <a:pt x="187960" y="2653030"/>
                  </a:lnTo>
                  <a:lnTo>
                    <a:pt x="2653030" y="187960"/>
                  </a:lnTo>
                  <a:close/>
                  <a:moveTo>
                    <a:pt x="2653030" y="622300"/>
                  </a:moveTo>
                  <a:lnTo>
                    <a:pt x="2653030" y="549910"/>
                  </a:lnTo>
                  <a:lnTo>
                    <a:pt x="549910" y="2653030"/>
                  </a:lnTo>
                  <a:lnTo>
                    <a:pt x="622300" y="2653030"/>
                  </a:lnTo>
                  <a:lnTo>
                    <a:pt x="2653030" y="622300"/>
                  </a:lnTo>
                  <a:close/>
                  <a:moveTo>
                    <a:pt x="2653030" y="477520"/>
                  </a:moveTo>
                  <a:lnTo>
                    <a:pt x="2653030" y="405130"/>
                  </a:lnTo>
                  <a:lnTo>
                    <a:pt x="405130" y="2653030"/>
                  </a:lnTo>
                  <a:lnTo>
                    <a:pt x="477520" y="2653030"/>
                  </a:lnTo>
                  <a:lnTo>
                    <a:pt x="2653030" y="477520"/>
                  </a:lnTo>
                  <a:close/>
                  <a:moveTo>
                    <a:pt x="2653030" y="1347470"/>
                  </a:moveTo>
                  <a:lnTo>
                    <a:pt x="2653030" y="1275080"/>
                  </a:lnTo>
                  <a:lnTo>
                    <a:pt x="1275080" y="2653030"/>
                  </a:lnTo>
                  <a:lnTo>
                    <a:pt x="1347470" y="2653030"/>
                  </a:lnTo>
                  <a:lnTo>
                    <a:pt x="2653030" y="1347470"/>
                  </a:lnTo>
                  <a:close/>
                  <a:moveTo>
                    <a:pt x="2653030" y="767080"/>
                  </a:moveTo>
                  <a:lnTo>
                    <a:pt x="2653030" y="694690"/>
                  </a:lnTo>
                  <a:lnTo>
                    <a:pt x="694690" y="2653030"/>
                  </a:lnTo>
                  <a:lnTo>
                    <a:pt x="767080" y="2653030"/>
                  </a:lnTo>
                  <a:lnTo>
                    <a:pt x="2653030" y="767080"/>
                  </a:lnTo>
                  <a:close/>
                  <a:moveTo>
                    <a:pt x="2653030" y="332740"/>
                  </a:moveTo>
                  <a:lnTo>
                    <a:pt x="2653030" y="260350"/>
                  </a:lnTo>
                  <a:lnTo>
                    <a:pt x="260350" y="2653030"/>
                  </a:lnTo>
                  <a:lnTo>
                    <a:pt x="332740" y="2653030"/>
                  </a:lnTo>
                  <a:lnTo>
                    <a:pt x="2653030" y="332740"/>
                  </a:lnTo>
                  <a:close/>
                  <a:moveTo>
                    <a:pt x="2653030" y="1202690"/>
                  </a:moveTo>
                  <a:lnTo>
                    <a:pt x="2653030" y="1130300"/>
                  </a:lnTo>
                  <a:lnTo>
                    <a:pt x="1130300" y="2653030"/>
                  </a:lnTo>
                  <a:lnTo>
                    <a:pt x="1202690" y="2653030"/>
                  </a:lnTo>
                  <a:lnTo>
                    <a:pt x="2653030" y="1202690"/>
                  </a:lnTo>
                  <a:close/>
                  <a:moveTo>
                    <a:pt x="2653030" y="913130"/>
                  </a:moveTo>
                  <a:lnTo>
                    <a:pt x="2653030" y="840740"/>
                  </a:lnTo>
                  <a:lnTo>
                    <a:pt x="840740" y="2653030"/>
                  </a:lnTo>
                  <a:lnTo>
                    <a:pt x="913130" y="2653030"/>
                  </a:lnTo>
                  <a:lnTo>
                    <a:pt x="2653030" y="913130"/>
                  </a:lnTo>
                  <a:close/>
                  <a:moveTo>
                    <a:pt x="2653030" y="1057910"/>
                  </a:moveTo>
                  <a:lnTo>
                    <a:pt x="2653030" y="985520"/>
                  </a:lnTo>
                  <a:lnTo>
                    <a:pt x="985520" y="2653030"/>
                  </a:lnTo>
                  <a:lnTo>
                    <a:pt x="1057910" y="2653030"/>
                  </a:lnTo>
                  <a:lnTo>
                    <a:pt x="2653030" y="1057910"/>
                  </a:lnTo>
                  <a:close/>
                </a:path>
              </a:pathLst>
            </a:custGeom>
            <a:solidFill>
              <a:srgbClr val="04106D"/>
            </a:solidFill>
            <a:ln>
              <a:noFill/>
            </a:ln>
          </p:spPr>
        </p:sp>
        <p:sp>
          <p:nvSpPr>
            <p:cNvPr id="130" name="Google Shape;130;p4"/>
            <p:cNvSpPr/>
            <p:nvPr/>
          </p:nvSpPr>
          <p:spPr>
            <a:xfrm rot="10800000">
              <a:off x="4448649" y="7814"/>
              <a:ext cx="1848345" cy="1840531"/>
            </a:xfrm>
            <a:prstGeom prst="rect">
              <a:avLst/>
            </a:prstGeom>
            <a:solidFill>
              <a:srgbClr val="041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 rot="10800000">
              <a:off x="2225695" y="3907"/>
              <a:ext cx="1846974" cy="1848345"/>
            </a:xfrm>
            <a:custGeom>
              <a:avLst/>
              <a:gdLst/>
              <a:ahLst/>
              <a:cxnLst/>
              <a:rect l="l" t="t" r="r" b="b"/>
              <a:pathLst>
                <a:path w="1706883" h="1708150" extrusionOk="0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041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4"/>
          <p:cNvGrpSpPr/>
          <p:nvPr/>
        </p:nvGrpSpPr>
        <p:grpSpPr>
          <a:xfrm>
            <a:off x="3180193" y="1867110"/>
            <a:ext cx="13813977" cy="6347906"/>
            <a:chOff x="-443345" y="-908208"/>
            <a:chExt cx="18418636" cy="8463875"/>
          </a:xfrm>
        </p:grpSpPr>
        <p:sp>
          <p:nvSpPr>
            <p:cNvPr id="133" name="Google Shape;133;p4"/>
            <p:cNvSpPr txBox="1"/>
            <p:nvPr/>
          </p:nvSpPr>
          <p:spPr>
            <a:xfrm>
              <a:off x="-100909" y="-908208"/>
              <a:ext cx="1807620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dirty="0">
                  <a:solidFill>
                    <a:srgbClr val="021852"/>
                  </a:solidFill>
                </a:rPr>
                <a:t>FEASIBILITY AND VIABILITY</a:t>
              </a:r>
              <a:endParaRPr sz="5400" b="1" dirty="0"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-443345" y="1235988"/>
              <a:ext cx="18076200" cy="6319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lvl="0" indent="-406400">
                <a:buSzPts val="2800"/>
                <a:buFont typeface="Arial"/>
                <a:buChar char="●"/>
              </a:pPr>
              <a:r>
                <a:rPr lang="en-US" sz="2800" b="1" dirty="0" smtClean="0"/>
                <a:t>Feasibility</a:t>
              </a:r>
              <a:r>
                <a:rPr lang="en-US" sz="2800" dirty="0" smtClean="0"/>
                <a:t> </a:t>
              </a:r>
              <a:r>
                <a:rPr lang="en-US" sz="2800" b="1" dirty="0"/>
                <a:t>of the Idea </a:t>
              </a:r>
              <a:r>
                <a:rPr lang="en-US" sz="2800" b="1" dirty="0" smtClean="0"/>
                <a:t>- </a:t>
              </a:r>
              <a:r>
                <a:rPr lang="en-US" sz="2800" dirty="0" smtClean="0"/>
                <a:t>Uses </a:t>
              </a:r>
              <a:r>
                <a:rPr lang="en-US" sz="2800" dirty="0"/>
                <a:t>widely available technologies like JavaScript, Python, and Chrome Extensions, making development practical. Integrates easily with GitHub pages without modifying the platform. Lightweight backend using </a:t>
              </a:r>
              <a:r>
                <a:rPr lang="en-US" sz="2800" dirty="0" err="1"/>
                <a:t>FastAPI</a:t>
              </a:r>
              <a:r>
                <a:rPr lang="en-US" sz="2800" dirty="0"/>
                <a:t> and </a:t>
              </a:r>
              <a:r>
                <a:rPr lang="en-US" sz="2800" dirty="0" err="1"/>
                <a:t>CodeBERT</a:t>
              </a:r>
              <a:r>
                <a:rPr lang="en-US" sz="2800" dirty="0"/>
                <a:t> enables efficient real-time detection. </a:t>
              </a:r>
            </a:p>
            <a:p>
              <a:pPr marL="457200" lvl="0" indent="-406400">
                <a:buSzPts val="2800"/>
                <a:buFont typeface="Arial"/>
                <a:buChar char="●"/>
              </a:pPr>
              <a:r>
                <a:rPr lang="en-US" sz="2800" b="1" dirty="0" smtClean="0"/>
                <a:t>Potential </a:t>
              </a:r>
              <a:r>
                <a:rPr lang="en-US" sz="2800" b="1" dirty="0"/>
                <a:t>Challenges and </a:t>
              </a:r>
              <a:r>
                <a:rPr lang="en-US" sz="2800" b="1" dirty="0" smtClean="0"/>
                <a:t>Risks - </a:t>
              </a:r>
              <a:r>
                <a:rPr lang="en-US" sz="2800" dirty="0"/>
                <a:t>False positives or negatives in detecting secrets. Latency issues if backend processing becomes slow. User privacy concerns when sending text to the backend server</a:t>
              </a:r>
              <a:r>
                <a:rPr lang="en-US" sz="2800" dirty="0" smtClean="0"/>
                <a:t>. </a:t>
              </a:r>
            </a:p>
            <a:p>
              <a:pPr marL="457200" lvl="0" indent="-406400">
                <a:buSzPts val="2800"/>
                <a:buFont typeface="Arial"/>
                <a:buChar char="●"/>
              </a:pPr>
              <a:r>
                <a:rPr lang="en-US" sz="2800" b="1" dirty="0" smtClean="0"/>
                <a:t>Strategies </a:t>
              </a:r>
              <a:r>
                <a:rPr lang="en-US" sz="2800" b="1" dirty="0"/>
                <a:t>to Overcome </a:t>
              </a:r>
              <a:r>
                <a:rPr lang="en-US" sz="2800" b="1" dirty="0" smtClean="0"/>
                <a:t>Challenges - </a:t>
              </a:r>
              <a:r>
                <a:rPr lang="en-US" sz="2800" dirty="0"/>
                <a:t>Use machine learning (</a:t>
              </a:r>
              <a:r>
                <a:rPr lang="en-US" sz="2800" dirty="0" err="1"/>
                <a:t>CodeBERT</a:t>
              </a:r>
              <a:r>
                <a:rPr lang="en-US" sz="2800" dirty="0"/>
                <a:t>) with regex to improve detection accuracy. Optimize backend processing and caching to reduce response time. Implement secure API communication and minimal data storage to protect user privacy.</a:t>
              </a:r>
              <a:endParaRPr sz="2800" dirty="0"/>
            </a:p>
          </p:txBody>
        </p:sp>
      </p:grpSp>
      <p:sp>
        <p:nvSpPr>
          <p:cNvPr id="136" name="Google Shape;136;p4"/>
          <p:cNvSpPr/>
          <p:nvPr/>
        </p:nvSpPr>
        <p:spPr>
          <a:xfrm>
            <a:off x="16470521" y="0"/>
            <a:ext cx="1817479" cy="1817471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1573" r="-12157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4"/>
          <p:cNvGrpSpPr/>
          <p:nvPr/>
        </p:nvGrpSpPr>
        <p:grpSpPr>
          <a:xfrm>
            <a:off x="1824743" y="227833"/>
            <a:ext cx="7026374" cy="862128"/>
            <a:chOff x="0" y="0"/>
            <a:chExt cx="9368499" cy="1149503"/>
          </a:xfrm>
        </p:grpSpPr>
        <p:sp>
          <p:nvSpPr>
            <p:cNvPr id="138" name="Google Shape;138;p4"/>
            <p:cNvSpPr/>
            <p:nvPr/>
          </p:nvSpPr>
          <p:spPr>
            <a:xfrm>
              <a:off x="0" y="77633"/>
              <a:ext cx="4299406" cy="994238"/>
            </a:xfrm>
            <a:custGeom>
              <a:avLst/>
              <a:gdLst/>
              <a:ahLst/>
              <a:cxnLst/>
              <a:rect l="l" t="t" r="r" b="b"/>
              <a:pathLst>
                <a:path w="4299406" h="994238" extrusionOk="0">
                  <a:moveTo>
                    <a:pt x="0" y="0"/>
                  </a:moveTo>
                  <a:lnTo>
                    <a:pt x="4299406" y="0"/>
                  </a:lnTo>
                  <a:lnTo>
                    <a:pt x="4299406" y="994238"/>
                  </a:lnTo>
                  <a:lnTo>
                    <a:pt x="0" y="9942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9" name="Google Shape;139;p4"/>
            <p:cNvSpPr/>
            <p:nvPr/>
          </p:nvSpPr>
          <p:spPr>
            <a:xfrm>
              <a:off x="4708205" y="61730"/>
              <a:ext cx="3101992" cy="1026044"/>
            </a:xfrm>
            <a:custGeom>
              <a:avLst/>
              <a:gdLst/>
              <a:ahLst/>
              <a:cxnLst/>
              <a:rect l="l" t="t" r="r" b="b"/>
              <a:pathLst>
                <a:path w="3101992" h="1026044" extrusionOk="0">
                  <a:moveTo>
                    <a:pt x="0" y="0"/>
                  </a:moveTo>
                  <a:lnTo>
                    <a:pt x="3101992" y="0"/>
                  </a:lnTo>
                  <a:lnTo>
                    <a:pt x="3101992" y="1026043"/>
                  </a:lnTo>
                  <a:lnTo>
                    <a:pt x="0" y="10260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0" name="Google Shape;140;p4"/>
            <p:cNvSpPr/>
            <p:nvPr/>
          </p:nvSpPr>
          <p:spPr>
            <a:xfrm>
              <a:off x="8218996" y="0"/>
              <a:ext cx="1149503" cy="114950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52507" t="-17416" r="-56069" b="-38813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1" name="Google Shape;141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625" y="-90838"/>
            <a:ext cx="1499450" cy="14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5"/>
          <p:cNvGrpSpPr/>
          <p:nvPr/>
        </p:nvGrpSpPr>
        <p:grpSpPr>
          <a:xfrm>
            <a:off x="652377" y="1408612"/>
            <a:ext cx="16887477" cy="7133784"/>
            <a:chOff x="-11494612" y="-1542548"/>
            <a:chExt cx="22516637" cy="9511711"/>
          </a:xfrm>
        </p:grpSpPr>
        <p:sp>
          <p:nvSpPr>
            <p:cNvPr id="147" name="Google Shape;147;p5"/>
            <p:cNvSpPr txBox="1"/>
            <p:nvPr/>
          </p:nvSpPr>
          <p:spPr>
            <a:xfrm>
              <a:off x="-11202365" y="-1542548"/>
              <a:ext cx="10356901" cy="2215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dirty="0">
                  <a:solidFill>
                    <a:srgbClr val="021852"/>
                  </a:solidFill>
                </a:rPr>
                <a:t>IMPACT AND BENEFITS</a:t>
              </a:r>
              <a:endParaRPr sz="5400" b="1" dirty="0"/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-11494612" y="1649485"/>
              <a:ext cx="22516637" cy="6319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50800" lvl="0">
                <a:buSzPts val="2800"/>
              </a:pPr>
              <a:r>
                <a:rPr lang="en-US" sz="2800" b="1" dirty="0"/>
                <a:t>1</a:t>
              </a:r>
              <a:r>
                <a:rPr lang="en-US" sz="2800" dirty="0"/>
                <a:t>. </a:t>
              </a:r>
              <a:r>
                <a:rPr lang="en-US" sz="2800" b="1" dirty="0"/>
                <a:t>Potential Impact on Target </a:t>
              </a:r>
              <a:r>
                <a:rPr lang="en-US" sz="2800" b="1" dirty="0" smtClean="0"/>
                <a:t>Audience – </a:t>
              </a:r>
            </a:p>
            <a:p>
              <a:pPr marL="508000" lvl="0" indent="-457200">
                <a:buSzPts val="2800"/>
                <a:buFontTx/>
                <a:buChar char="-"/>
              </a:pPr>
              <a:r>
                <a:rPr lang="en-US" sz="2800" dirty="0" smtClean="0"/>
                <a:t>Helps </a:t>
              </a:r>
              <a:r>
                <a:rPr lang="en-US" sz="2800" dirty="0"/>
                <a:t>developers prevent accidental exposure of sensitive credentials while creating issues on </a:t>
              </a:r>
              <a:r>
                <a:rPr lang="en-US" sz="2800" dirty="0" smtClean="0"/>
                <a:t>GitHub.</a:t>
              </a:r>
            </a:p>
            <a:p>
              <a:pPr marL="508000" lvl="0" indent="-457200">
                <a:buSzPts val="2800"/>
                <a:buFontTx/>
                <a:buChar char="-"/>
              </a:pPr>
              <a:r>
                <a:rPr lang="en-US" sz="2800" dirty="0" smtClean="0"/>
                <a:t>Improves </a:t>
              </a:r>
              <a:r>
                <a:rPr lang="en-US" sz="2800" dirty="0"/>
                <a:t>software security practices by providing real-time alerts during development. </a:t>
              </a:r>
              <a:endParaRPr lang="en-US" sz="2800" dirty="0" smtClean="0"/>
            </a:p>
            <a:p>
              <a:pPr marL="508000" lvl="0" indent="-457200">
                <a:buSzPts val="2800"/>
                <a:buFontTx/>
                <a:buChar char="-"/>
              </a:pPr>
              <a:r>
                <a:rPr lang="en-US" sz="2800" dirty="0" smtClean="0"/>
                <a:t>Supports </a:t>
              </a:r>
              <a:r>
                <a:rPr lang="en-US" sz="2800" dirty="0"/>
                <a:t>organizations and open-source communities in protecting confidential data. </a:t>
              </a:r>
              <a:endParaRPr lang="en-US" sz="2800" dirty="0" smtClean="0"/>
            </a:p>
            <a:p>
              <a:pPr marL="50800" lvl="0">
                <a:buSzPts val="2800"/>
              </a:pPr>
              <a:r>
                <a:rPr lang="en-US" sz="2800" b="1" dirty="0" smtClean="0"/>
                <a:t>2</a:t>
              </a:r>
              <a:r>
                <a:rPr lang="en-US" sz="2800" b="1" dirty="0"/>
                <a:t>. Benefits of the </a:t>
              </a:r>
              <a:r>
                <a:rPr lang="en-US" sz="2800" b="1" dirty="0" smtClean="0"/>
                <a:t>Solution -  </a:t>
              </a:r>
            </a:p>
            <a:p>
              <a:pPr marL="508000" lvl="0" indent="-457200">
                <a:buSzPts val="2800"/>
                <a:buFontTx/>
                <a:buChar char="-"/>
              </a:pPr>
              <a:r>
                <a:rPr lang="en-US" sz="2800" dirty="0" smtClean="0"/>
                <a:t>Security </a:t>
              </a:r>
              <a:r>
                <a:rPr lang="en-US" sz="2800" dirty="0"/>
                <a:t>/ Social Benefits Reduces risk of data breaches caused by leaked API keys, tokens, or passwords. Promotes safer coding and responsible data handling among developers. </a:t>
              </a:r>
              <a:endParaRPr lang="en-US" sz="2800" dirty="0" smtClean="0"/>
            </a:p>
            <a:p>
              <a:pPr marL="508000" lvl="0" indent="-457200">
                <a:buSzPts val="2800"/>
                <a:buFontTx/>
                <a:buChar char="-"/>
              </a:pPr>
              <a:r>
                <a:rPr lang="en-US" sz="2800" dirty="0" smtClean="0"/>
                <a:t>Economic </a:t>
              </a:r>
              <a:r>
                <a:rPr lang="en-US" sz="2800" dirty="0"/>
                <a:t>Benefits Prevents financial losses caused by compromised credentials or cyberattacks. Reduces costs related to security incidents and system recovery. </a:t>
              </a:r>
              <a:endParaRPr lang="en-US" sz="2800" dirty="0" smtClean="0"/>
            </a:p>
            <a:p>
              <a:pPr marL="50800" lvl="0">
                <a:buSzPts val="2800"/>
              </a:pPr>
              <a:r>
                <a:rPr lang="en-US" sz="2800" b="1" dirty="0" smtClean="0"/>
                <a:t>3. Technical Benefits -  </a:t>
              </a:r>
              <a:r>
                <a:rPr lang="en-US" sz="2800" dirty="0"/>
                <a:t>Provides real-time detection using regex and the </a:t>
              </a:r>
              <a:r>
                <a:rPr lang="en-US" sz="2800" dirty="0" err="1"/>
                <a:t>CodeBERT</a:t>
              </a:r>
              <a:r>
                <a:rPr lang="en-US" sz="2800" dirty="0"/>
                <a:t> model for better accuracy. Easy integration with existing developer workflows through a browser extension.</a:t>
              </a:r>
              <a:endParaRPr sz="2800" dirty="0"/>
            </a:p>
          </p:txBody>
        </p:sp>
        <p:cxnSp>
          <p:nvCxnSpPr>
            <p:cNvPr id="149" name="Google Shape;149;p5"/>
            <p:cNvCxnSpPr/>
            <p:nvPr/>
          </p:nvCxnSpPr>
          <p:spPr>
            <a:xfrm>
              <a:off x="-11424038" y="1224617"/>
              <a:ext cx="11179230" cy="0"/>
            </a:xfrm>
            <a:prstGeom prst="straightConnector1">
              <a:avLst/>
            </a:prstGeom>
            <a:noFill/>
            <a:ln w="139700" cap="flat" cmpd="sng">
              <a:solidFill>
                <a:srgbClr val="04106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0" name="Google Shape;150;p5"/>
          <p:cNvSpPr/>
          <p:nvPr/>
        </p:nvSpPr>
        <p:spPr>
          <a:xfrm>
            <a:off x="16470521" y="0"/>
            <a:ext cx="1817479" cy="1817471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1573" r="-12157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151;p5"/>
          <p:cNvGrpSpPr/>
          <p:nvPr/>
        </p:nvGrpSpPr>
        <p:grpSpPr>
          <a:xfrm>
            <a:off x="1824743" y="227833"/>
            <a:ext cx="7026374" cy="862128"/>
            <a:chOff x="0" y="0"/>
            <a:chExt cx="9368499" cy="1149503"/>
          </a:xfrm>
        </p:grpSpPr>
        <p:sp>
          <p:nvSpPr>
            <p:cNvPr id="152" name="Google Shape;152;p5"/>
            <p:cNvSpPr/>
            <p:nvPr/>
          </p:nvSpPr>
          <p:spPr>
            <a:xfrm>
              <a:off x="0" y="77633"/>
              <a:ext cx="4299406" cy="994238"/>
            </a:xfrm>
            <a:custGeom>
              <a:avLst/>
              <a:gdLst/>
              <a:ahLst/>
              <a:cxnLst/>
              <a:rect l="l" t="t" r="r" b="b"/>
              <a:pathLst>
                <a:path w="4299406" h="994238" extrusionOk="0">
                  <a:moveTo>
                    <a:pt x="0" y="0"/>
                  </a:moveTo>
                  <a:lnTo>
                    <a:pt x="4299406" y="0"/>
                  </a:lnTo>
                  <a:lnTo>
                    <a:pt x="4299406" y="994238"/>
                  </a:lnTo>
                  <a:lnTo>
                    <a:pt x="0" y="9942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3" name="Google Shape;153;p5"/>
            <p:cNvSpPr/>
            <p:nvPr/>
          </p:nvSpPr>
          <p:spPr>
            <a:xfrm>
              <a:off x="4708205" y="61730"/>
              <a:ext cx="3101992" cy="1026044"/>
            </a:xfrm>
            <a:custGeom>
              <a:avLst/>
              <a:gdLst/>
              <a:ahLst/>
              <a:cxnLst/>
              <a:rect l="l" t="t" r="r" b="b"/>
              <a:pathLst>
                <a:path w="3101992" h="1026044" extrusionOk="0">
                  <a:moveTo>
                    <a:pt x="0" y="0"/>
                  </a:moveTo>
                  <a:lnTo>
                    <a:pt x="3101992" y="0"/>
                  </a:lnTo>
                  <a:lnTo>
                    <a:pt x="3101992" y="1026043"/>
                  </a:lnTo>
                  <a:lnTo>
                    <a:pt x="0" y="10260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4" name="Google Shape;154;p5"/>
            <p:cNvSpPr/>
            <p:nvPr/>
          </p:nvSpPr>
          <p:spPr>
            <a:xfrm>
              <a:off x="8218996" y="0"/>
              <a:ext cx="1149503" cy="114950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52507" t="-17416" r="-56069" b="-38813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5" name="Google Shape;155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625" y="-90838"/>
            <a:ext cx="1499450" cy="14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/>
        </p:nvSpPr>
        <p:spPr>
          <a:xfrm>
            <a:off x="-559071" y="1201721"/>
            <a:ext cx="10179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021852"/>
                </a:solidFill>
              </a:rPr>
              <a:t>Conclusion</a:t>
            </a:r>
            <a:endParaRPr b="1" dirty="0"/>
          </a:p>
        </p:txBody>
      </p:sp>
      <p:grpSp>
        <p:nvGrpSpPr>
          <p:cNvPr id="161" name="Google Shape;161;p6"/>
          <p:cNvGrpSpPr/>
          <p:nvPr/>
        </p:nvGrpSpPr>
        <p:grpSpPr>
          <a:xfrm>
            <a:off x="14053573" y="6059032"/>
            <a:ext cx="4234427" cy="4234427"/>
            <a:chOff x="0" y="0"/>
            <a:chExt cx="558800" cy="558800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 extrusionOk="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41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6"/>
          <p:cNvSpPr/>
          <p:nvPr/>
        </p:nvSpPr>
        <p:spPr>
          <a:xfrm>
            <a:off x="16470521" y="0"/>
            <a:ext cx="1817479" cy="1817471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1573" r="-12157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6"/>
          <p:cNvGrpSpPr/>
          <p:nvPr/>
        </p:nvGrpSpPr>
        <p:grpSpPr>
          <a:xfrm>
            <a:off x="1824743" y="227833"/>
            <a:ext cx="7026374" cy="862128"/>
            <a:chOff x="0" y="0"/>
            <a:chExt cx="9368499" cy="1149503"/>
          </a:xfrm>
        </p:grpSpPr>
        <p:sp>
          <p:nvSpPr>
            <p:cNvPr id="166" name="Google Shape;166;p6"/>
            <p:cNvSpPr/>
            <p:nvPr/>
          </p:nvSpPr>
          <p:spPr>
            <a:xfrm>
              <a:off x="0" y="77633"/>
              <a:ext cx="4299406" cy="994238"/>
            </a:xfrm>
            <a:custGeom>
              <a:avLst/>
              <a:gdLst/>
              <a:ahLst/>
              <a:cxnLst/>
              <a:rect l="l" t="t" r="r" b="b"/>
              <a:pathLst>
                <a:path w="4299406" h="994238" extrusionOk="0">
                  <a:moveTo>
                    <a:pt x="0" y="0"/>
                  </a:moveTo>
                  <a:lnTo>
                    <a:pt x="4299406" y="0"/>
                  </a:lnTo>
                  <a:lnTo>
                    <a:pt x="4299406" y="994238"/>
                  </a:lnTo>
                  <a:lnTo>
                    <a:pt x="0" y="9942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7" name="Google Shape;167;p6"/>
            <p:cNvSpPr/>
            <p:nvPr/>
          </p:nvSpPr>
          <p:spPr>
            <a:xfrm>
              <a:off x="4708205" y="61730"/>
              <a:ext cx="3101992" cy="1026044"/>
            </a:xfrm>
            <a:custGeom>
              <a:avLst/>
              <a:gdLst/>
              <a:ahLst/>
              <a:cxnLst/>
              <a:rect l="l" t="t" r="r" b="b"/>
              <a:pathLst>
                <a:path w="3101992" h="1026044" extrusionOk="0">
                  <a:moveTo>
                    <a:pt x="0" y="0"/>
                  </a:moveTo>
                  <a:lnTo>
                    <a:pt x="3101992" y="0"/>
                  </a:lnTo>
                  <a:lnTo>
                    <a:pt x="3101992" y="1026043"/>
                  </a:lnTo>
                  <a:lnTo>
                    <a:pt x="0" y="10260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8" name="Google Shape;168;p6"/>
            <p:cNvSpPr/>
            <p:nvPr/>
          </p:nvSpPr>
          <p:spPr>
            <a:xfrm>
              <a:off x="8218996" y="0"/>
              <a:ext cx="1149503" cy="1149503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52507" t="-17416" r="-56069" b="-38813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9" name="Google Shape;16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625" y="-90838"/>
            <a:ext cx="1499450" cy="14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604076" y="3158836"/>
            <a:ext cx="1151650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 err="1" smtClean="0"/>
              <a:t>IssueGuard</a:t>
            </a:r>
            <a:r>
              <a:rPr lang="en-US" sz="2800" dirty="0" smtClean="0"/>
              <a:t> </a:t>
            </a:r>
            <a:r>
              <a:rPr lang="en-US" sz="2800" dirty="0"/>
              <a:t>prevents accidental leakage of sensitive credentials such as API keys, tokens, and </a:t>
            </a:r>
            <a:r>
              <a:rPr lang="en-US" sz="2800" dirty="0" smtClean="0"/>
              <a:t>passwords.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 </a:t>
            </a:r>
            <a:r>
              <a:rPr lang="en-US" sz="2800" dirty="0"/>
              <a:t>Real-time monitoring through a Chrome extension alerts developers before sensitive data is publicly posted. </a:t>
            </a:r>
            <a:endParaRPr lang="en-US" sz="2800" dirty="0" smtClean="0"/>
          </a:p>
          <a:p>
            <a:pPr marL="457200" indent="-457200">
              <a:buFontTx/>
              <a:buChar char="-"/>
            </a:pPr>
            <a:r>
              <a:rPr lang="en-US" sz="2800" dirty="0" smtClean="0"/>
              <a:t>Hybrid </a:t>
            </a:r>
            <a:r>
              <a:rPr lang="en-US" sz="2800" dirty="0"/>
              <a:t>detection using Regex + </a:t>
            </a:r>
            <a:r>
              <a:rPr lang="en-US" sz="2800" dirty="0" err="1"/>
              <a:t>CodeBERT</a:t>
            </a:r>
            <a:r>
              <a:rPr lang="en-US" sz="2800" dirty="0"/>
              <a:t> improves accuracy and reduces false positives. </a:t>
            </a:r>
            <a:endParaRPr lang="en-US" sz="2800" dirty="0" smtClean="0"/>
          </a:p>
          <a:p>
            <a:pPr marL="457200" indent="-457200">
              <a:buFontTx/>
              <a:buChar char="-"/>
            </a:pPr>
            <a:r>
              <a:rPr lang="en-US" sz="2800" dirty="0" smtClean="0"/>
              <a:t>Seamless </a:t>
            </a:r>
            <a:r>
              <a:rPr lang="en-US" sz="2800" dirty="0"/>
              <a:t>integration with developer workflow ensures security without interrupting productivity.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3cbf6d6e0ab_0_0"/>
          <p:cNvGrpSpPr/>
          <p:nvPr/>
        </p:nvGrpSpPr>
        <p:grpSpPr>
          <a:xfrm>
            <a:off x="1248947" y="1809743"/>
            <a:ext cx="10179000" cy="3060691"/>
            <a:chOff x="0" y="0"/>
            <a:chExt cx="13572000" cy="4080920"/>
          </a:xfrm>
        </p:grpSpPr>
        <p:sp>
          <p:nvSpPr>
            <p:cNvPr id="175" name="Google Shape;175;g3cbf6d6e0ab_0_0"/>
            <p:cNvSpPr txBox="1"/>
            <p:nvPr/>
          </p:nvSpPr>
          <p:spPr>
            <a:xfrm>
              <a:off x="0" y="0"/>
              <a:ext cx="13572000" cy="16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0" b="1" dirty="0" smtClean="0">
                  <a:solidFill>
                    <a:srgbClr val="021852"/>
                  </a:solidFill>
                </a:rPr>
                <a:t>REFERENCES</a:t>
              </a:r>
              <a:endParaRPr b="1" dirty="0"/>
            </a:p>
          </p:txBody>
        </p:sp>
        <p:sp>
          <p:nvSpPr>
            <p:cNvPr id="176" name="Google Shape;176;g3cbf6d6e0ab_0_0"/>
            <p:cNvSpPr txBox="1"/>
            <p:nvPr/>
          </p:nvSpPr>
          <p:spPr>
            <a:xfrm>
              <a:off x="1444829" y="3276598"/>
              <a:ext cx="11164200" cy="804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50800" lvl="0" algn="ctr">
                <a:lnSpc>
                  <a:spcPct val="140000"/>
                </a:lnSpc>
                <a:buSzPts val="2800"/>
              </a:pPr>
              <a:r>
                <a:rPr lang="en-US" sz="2800" dirty="0"/>
                <a:t>https://github.com/nafiurahman00/IssueGuard</a:t>
              </a:r>
              <a:endParaRPr sz="2800" dirty="0"/>
            </a:p>
          </p:txBody>
        </p:sp>
      </p:grpSp>
      <p:grpSp>
        <p:nvGrpSpPr>
          <p:cNvPr id="177" name="Google Shape;177;g3cbf6d6e0ab_0_0"/>
          <p:cNvGrpSpPr/>
          <p:nvPr/>
        </p:nvGrpSpPr>
        <p:grpSpPr>
          <a:xfrm>
            <a:off x="14053573" y="6059032"/>
            <a:ext cx="4234419" cy="4234419"/>
            <a:chOff x="0" y="0"/>
            <a:chExt cx="558800" cy="558800"/>
          </a:xfrm>
        </p:grpSpPr>
        <p:sp>
          <p:nvSpPr>
            <p:cNvPr id="178" name="Google Shape;178;g3cbf6d6e0ab_0_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 extrusionOk="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41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g3cbf6d6e0ab_0_0"/>
            <p:cNvSpPr txBox="1"/>
            <p:nvPr/>
          </p:nvSpPr>
          <p:spPr>
            <a:xfrm>
              <a:off x="165100" y="127000"/>
              <a:ext cx="3936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g3cbf6d6e0ab_0_0"/>
          <p:cNvSpPr/>
          <p:nvPr/>
        </p:nvSpPr>
        <p:spPr>
          <a:xfrm>
            <a:off x="16470521" y="0"/>
            <a:ext cx="1809750" cy="1809743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1562" r="-12157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g3cbf6d6e0ab_0_0"/>
          <p:cNvGrpSpPr/>
          <p:nvPr/>
        </p:nvGrpSpPr>
        <p:grpSpPr>
          <a:xfrm>
            <a:off x="1824743" y="227833"/>
            <a:ext cx="7026831" cy="862584"/>
            <a:chOff x="0" y="0"/>
            <a:chExt cx="9369108" cy="1150112"/>
          </a:xfrm>
        </p:grpSpPr>
        <p:sp>
          <p:nvSpPr>
            <p:cNvPr id="182" name="Google Shape;182;g3cbf6d6e0ab_0_0"/>
            <p:cNvSpPr/>
            <p:nvPr/>
          </p:nvSpPr>
          <p:spPr>
            <a:xfrm>
              <a:off x="0" y="77633"/>
              <a:ext cx="4299406" cy="994238"/>
            </a:xfrm>
            <a:custGeom>
              <a:avLst/>
              <a:gdLst/>
              <a:ahLst/>
              <a:cxnLst/>
              <a:rect l="l" t="t" r="r" b="b"/>
              <a:pathLst>
                <a:path w="4299406" h="994238" extrusionOk="0">
                  <a:moveTo>
                    <a:pt x="0" y="0"/>
                  </a:moveTo>
                  <a:lnTo>
                    <a:pt x="4299406" y="0"/>
                  </a:lnTo>
                  <a:lnTo>
                    <a:pt x="4299406" y="994238"/>
                  </a:lnTo>
                  <a:lnTo>
                    <a:pt x="0" y="9942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3" name="Google Shape;183;g3cbf6d6e0ab_0_0"/>
            <p:cNvSpPr/>
            <p:nvPr/>
          </p:nvSpPr>
          <p:spPr>
            <a:xfrm>
              <a:off x="4708205" y="61730"/>
              <a:ext cx="3101992" cy="1026044"/>
            </a:xfrm>
            <a:custGeom>
              <a:avLst/>
              <a:gdLst/>
              <a:ahLst/>
              <a:cxnLst/>
              <a:rect l="l" t="t" r="r" b="b"/>
              <a:pathLst>
                <a:path w="3101992" h="1026044" extrusionOk="0">
                  <a:moveTo>
                    <a:pt x="0" y="0"/>
                  </a:moveTo>
                  <a:lnTo>
                    <a:pt x="3101992" y="0"/>
                  </a:lnTo>
                  <a:lnTo>
                    <a:pt x="3101992" y="1026043"/>
                  </a:lnTo>
                  <a:lnTo>
                    <a:pt x="0" y="10260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4" name="Google Shape;184;g3cbf6d6e0ab_0_0"/>
            <p:cNvSpPr/>
            <p:nvPr/>
          </p:nvSpPr>
          <p:spPr>
            <a:xfrm>
              <a:off x="8218996" y="0"/>
              <a:ext cx="1150112" cy="115011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52505" t="-17419" r="-56066" b="-38808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5" name="Google Shape;185;g3cbf6d6e0ab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625" y="-90838"/>
            <a:ext cx="1499450" cy="14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867890" y="3671537"/>
            <a:ext cx="5323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8"/>
              </a:rPr>
              <a:t>https://</a:t>
            </a:r>
            <a:r>
              <a:rPr lang="en-US" sz="2800" dirty="0" smtClean="0">
                <a:hlinkClick r:id="rId8"/>
              </a:rPr>
              <a:t>arxiv.org/abs/2002.08155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559</Words>
  <Application>Microsoft Office PowerPoint</Application>
  <PresentationFormat>Custom</PresentationFormat>
  <Paragraphs>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Awantika Ankushe</cp:lastModifiedBy>
  <cp:revision>11</cp:revision>
  <dcterms:created xsi:type="dcterms:W3CDTF">2006-08-16T00:00:00Z</dcterms:created>
  <dcterms:modified xsi:type="dcterms:W3CDTF">2026-03-10T15:16:06Z</dcterms:modified>
</cp:coreProperties>
</file>